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1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5.xml.rels" ContentType="application/vnd.openxmlformats-package.relationships+xml"/>
  <Override PartName="/ppt/slides/_rels/slide12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5.xml.rels" ContentType="application/vnd.openxmlformats-package.relationships+xml"/>
  <Override PartName="/ppt/slides/_rels/slide19.xml.rels" ContentType="application/vnd.openxmlformats-package.relationships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2.png" ContentType="image/png"/>
  <Override PartName="/ppt/media/image13.png" ContentType="image/png"/>
  <Override PartName="/ppt/media/image15.png" ContentType="image/png"/>
  <Override PartName="/ppt/media/image16.png" ContentType="image/png"/>
  <Override PartName="/ppt/media/image18.png" ContentType="image/png"/>
  <Override PartName="/ppt/media/image19.png" ContentType="image/png"/>
  <Override PartName="/ppt/media/image17.png" ContentType="image/png"/>
  <Override PartName="/ppt/media/image14.png" ContentType="image/png"/>
  <Override PartName="/ppt/media/image20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B50AD-B986-4521-9DF9-B1B2C12D5D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B751A-1E2A-4C82-A383-5768B648B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20FC6-2210-4B4C-B9F3-4500DDFA6F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350CEB-CF09-4C27-9140-A3807E916C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F2E60-BBEB-4E77-83A0-E0F112EA45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67F57-DB44-426D-9122-3DA4068979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AD5B8A-1EB1-448F-B7A6-0CD467EA2B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B8FC5-77A1-4A3D-B107-11FB01CF5D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B8C68D-4264-4ACF-A73D-71148A2FBA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35730-1B61-476D-AB80-5D79CE13BA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8F94E0-A3F6-458A-A304-F3B5F419D4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C3C92-041A-4643-8DE3-CD045F3247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37EFCC-72B2-47FA-AC4A-230C551BDA6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640080" y="91440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640080" y="1097280"/>
            <a:ext cx="108810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Optimizing the Optimizer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640080" y="2286000"/>
            <a:ext cx="10881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596be"/>
                </a:solidFill>
                <a:latin typeface="Calibri"/>
              </a:rPr>
              <a:t>A Comprehensive Study of Self-Scaled Quasi-Newton</a:t>
            </a:r>
            <a:br>
              <a:rPr sz="2400"/>
            </a:br>
            <a:r>
              <a:rPr b="0" lang="en-US" sz="2400" spc="-1" strike="noStrike">
                <a:solidFill>
                  <a:srgbClr val="2596be"/>
                </a:solidFill>
                <a:latin typeface="Calibri"/>
              </a:rPr>
              <a:t>Methods for Physics-Informed Neural Networks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640080" y="329184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640080" y="3566160"/>
            <a:ext cx="10881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Eugenio D. Macias  &amp;  Don Wong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40080" y="4114800"/>
            <a:ext cx="108810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aabbcc"/>
                </a:solidFill>
                <a:latin typeface="Calibri"/>
              </a:rPr>
              <a:t>Brown University  •  Division of Applied Mathematics</a:t>
            </a:r>
            <a:br>
              <a:rPr sz="1600"/>
            </a:br>
            <a:r>
              <a:rPr b="0" lang="en-US" sz="1600" spc="-1" strike="noStrike">
                <a:solidFill>
                  <a:srgbClr val="aabbcc"/>
                </a:solidFill>
                <a:latin typeface="Calibri"/>
              </a:rPr>
              <a:t>Directed Research Project  •  April 2026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640080" y="365760"/>
            <a:ext cx="108810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Motivation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8" name="Rectangle 2"/>
          <p:cNvSpPr/>
          <p:nvPr/>
        </p:nvSpPr>
        <p:spPr>
          <a:xfrm>
            <a:off x="640080" y="105156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640080" y="1371600"/>
            <a:ext cx="5303160" cy="35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</a:rPr>
              <a:t>PINNs: mesh-free PDE solvers via neural networks</a:t>
            </a:r>
            <a:endParaRPr b="0" lang="en-US" sz="19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Loss = PDE residual + IC + BC — no labeled data needed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900" spc="-1" strike="noStrike">
                <a:solidFill>
                  <a:srgbClr val="e8a838"/>
                </a:solidFill>
                <a:latin typeface="Calibri"/>
              </a:rPr>
              <a:t>The optimization bottleneck:</a:t>
            </a:r>
            <a:endParaRPr b="0" lang="en-US" sz="19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Adam stagnates on stiff PDEs (flat loss plateaus)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BFGS uses curvature info → faster convergence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But Hessian scaling matters enormously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900" spc="-1" strike="noStrike">
                <a:solidFill>
                  <a:srgbClr val="2596be"/>
                </a:solidFill>
                <a:latin typeface="Calibri"/>
              </a:rPr>
              <a:t>Our question:</a:t>
            </a:r>
            <a:endParaRPr b="0" lang="en-US" sz="19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Can self-scaled quasi-Newton methods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systematically outperform standard optimizers?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0" name="Rounded Rectangle 4"/>
          <p:cNvSpPr/>
          <p:nvPr/>
        </p:nvSpPr>
        <p:spPr>
          <a:xfrm>
            <a:off x="6583680" y="1645920"/>
            <a:ext cx="5028840" cy="36572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5"/>
          <p:cNvSpPr/>
          <p:nvPr/>
        </p:nvSpPr>
        <p:spPr>
          <a:xfrm>
            <a:off x="6858000" y="1828800"/>
            <a:ext cx="4571640" cy="26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200" spc="-1" strike="noStrike">
                <a:solidFill>
                  <a:srgbClr val="2596be"/>
                </a:solidFill>
                <a:latin typeface="Calibri"/>
              </a:rPr>
              <a:t>This Study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6 quasi-Newton variants compared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43 unique configurations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80+ seeded experiments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8 ablation groups (A–H)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Oscar HPC cluster @ Brown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400" spc="-1" strike="noStrike">
                <a:solidFill>
                  <a:srgbClr val="27ae60"/>
                </a:solidFill>
                <a:latin typeface="Calibri"/>
              </a:rPr>
              <a:t>Best L² = 0.258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What are PINNs?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Physics-Informed Neural Networks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6" name="Picture 4" descr="PINNS_optmizer.png"/>
          <p:cNvPicPr/>
          <p:nvPr/>
        </p:nvPicPr>
        <p:blipFill>
          <a:blip r:embed="rId1"/>
          <a:stretch/>
        </p:blipFill>
        <p:spPr>
          <a:xfrm>
            <a:off x="457200" y="1371600"/>
            <a:ext cx="6857640" cy="5686920"/>
          </a:xfrm>
          <a:prstGeom prst="rect">
            <a:avLst/>
          </a:prstGeom>
          <a:ln w="0">
            <a:noFill/>
          </a:ln>
        </p:spPr>
      </p:pic>
      <p:sp>
        <p:nvSpPr>
          <p:cNvPr id="57" name="TextBox 5"/>
          <p:cNvSpPr/>
          <p:nvPr/>
        </p:nvSpPr>
        <p:spPr>
          <a:xfrm>
            <a:off x="7589520" y="1371600"/>
            <a:ext cx="411444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Network u_θ(t, x, y) approximates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the PDE solution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333333"/>
                </a:solidFill>
                <a:latin typeface="Calibri"/>
              </a:rPr>
              <a:t>Loss function encodes physics: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PDE residual (auto-diff derivatives)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Initial conditions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Boundary conditions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1b2a4a"/>
                </a:solidFill>
                <a:latin typeface="Calibri"/>
              </a:rPr>
              <a:t>No labeled data required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Physics IS the supervision signal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Derivatives computed exactly via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automatic differentiation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58" name="Picture 6" descr="eq_loss_dark.png"/>
          <p:cNvPicPr/>
          <p:nvPr/>
        </p:nvPicPr>
        <p:blipFill>
          <a:blip r:embed="rId2"/>
          <a:stretch/>
        </p:blipFill>
        <p:spPr>
          <a:xfrm>
            <a:off x="7772400" y="5303520"/>
            <a:ext cx="3840120" cy="435240"/>
          </a:xfrm>
          <a:prstGeom prst="rect">
            <a:avLst/>
          </a:prstGeom>
          <a:ln w="0">
            <a:noFill/>
          </a:ln>
        </p:spPr>
      </p:pic>
      <p:sp>
        <p:nvSpPr>
          <p:cNvPr id="59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640080" y="365760"/>
            <a:ext cx="108810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The Cahn–Hilliard Equation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640080" y="105156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2" name="Picture 3" descr="eq_cahn_hilliard.png"/>
          <p:cNvPicPr/>
          <p:nvPr/>
        </p:nvPicPr>
        <p:blipFill>
          <a:blip r:embed="rId1"/>
          <a:stretch/>
        </p:blipFill>
        <p:spPr>
          <a:xfrm>
            <a:off x="2286000" y="1371600"/>
            <a:ext cx="7314840" cy="1042920"/>
          </a:xfrm>
          <a:prstGeom prst="rect">
            <a:avLst/>
          </a:prstGeom>
          <a:ln w="0">
            <a:noFill/>
          </a:ln>
        </p:spPr>
      </p:pic>
      <p:sp>
        <p:nvSpPr>
          <p:cNvPr id="63" name="Rounded Rectangle 4"/>
          <p:cNvSpPr/>
          <p:nvPr/>
        </p:nvSpPr>
        <p:spPr>
          <a:xfrm>
            <a:off x="640080" y="274320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1905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5"/>
          <p:cNvSpPr/>
          <p:nvPr/>
        </p:nvSpPr>
        <p:spPr>
          <a:xfrm>
            <a:off x="914400" y="2926080"/>
            <a:ext cx="4845960" cy="21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2000" spc="-1" strike="noStrike">
                <a:solidFill>
                  <a:srgbClr val="2596be"/>
                </a:solidFill>
                <a:latin typeface="Calibri"/>
              </a:rPr>
              <a:t>Setup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U(t,x,y) = order parameter (phase concentration)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Domain: [0, 128]² × [0, 10]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D = 1.0,  a₂ = 1.0,  a₄ = 1.0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Periodic boundary conditions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Random smoothed initial condition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e8a838"/>
                </a:solidFill>
                <a:latin typeface="Calibri"/>
              </a:rPr>
              <a:t>Mass conservation: ∫ U dx = const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5" name="Rounded Rectangle 6"/>
          <p:cNvSpPr/>
          <p:nvPr/>
        </p:nvSpPr>
        <p:spPr>
          <a:xfrm>
            <a:off x="6400800" y="2743200"/>
            <a:ext cx="5303160" cy="347436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1905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7"/>
          <p:cNvSpPr/>
          <p:nvPr/>
        </p:nvSpPr>
        <p:spPr>
          <a:xfrm>
            <a:off x="6675120" y="2926080"/>
            <a:ext cx="4845960" cy="24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2000" spc="-1" strike="noStrike">
                <a:solidFill>
                  <a:srgbClr val="c0392b"/>
                </a:solidFill>
                <a:latin typeface="Calibri"/>
              </a:rPr>
              <a:t>Why is CH Hard for PINNs?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Biharmonic operator ∇⁴ requires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4th-order derivatives through network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Cubic nonlinearity ∇²(U³) →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complex mixed derivative terms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Multiscale dynamics: rapid phase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separation → slow coarsening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1"/>
          <p:cNvSpPr/>
          <p:nvPr/>
        </p:nvSpPr>
        <p:spPr>
          <a:xfrm>
            <a:off x="1371600" y="1828800"/>
            <a:ext cx="9417960" cy="32000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381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2"/>
          <p:cNvSpPr/>
          <p:nvPr/>
        </p:nvSpPr>
        <p:spPr>
          <a:xfrm>
            <a:off x="1828800" y="2103120"/>
            <a:ext cx="8503560" cy="34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1599"/>
              </a:spcAft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Research Question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Can self-scaled quasi-Newton methods —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which automatically adjust the Hessian approximation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at each iteration —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000" spc="-1" strike="noStrike">
                <a:solidFill>
                  <a:srgbClr val="e8a838"/>
                </a:solidFill>
                <a:latin typeface="Calibri"/>
              </a:rPr>
              <a:t>systematically and significantly outperform</a:t>
            </a:r>
            <a:endParaRPr b="0" lang="en-US" sz="30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standard optimizers for training PINNs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on stiff, high-order PDEs?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Network Architecture &amp; Loss Function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457200" y="1371600"/>
            <a:ext cx="5303160" cy="47545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4"/>
          <p:cNvSpPr/>
          <p:nvPr/>
        </p:nvSpPr>
        <p:spPr>
          <a:xfrm>
            <a:off x="731520" y="1554480"/>
            <a:ext cx="4845960" cy="34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200" spc="-1" strike="noStrike">
                <a:solidFill>
                  <a:srgbClr val="1b2a4a"/>
                </a:solidFill>
                <a:latin typeface="Calibri"/>
              </a:rPr>
              <a:t>Network Architecture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Fully-connected: [3, 20, 20, 20, 20, 1]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Input: (t, x, y)  →  Output: U(t, x, y)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333333"/>
                </a:solidFill>
                <a:latin typeface="Calibri"/>
              </a:rPr>
              <a:t>1,361 trainable parameters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Activation: tanh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c0392b"/>
                </a:solidFill>
                <a:latin typeface="Calibri"/>
              </a:rPr>
              <a:t>Precision: float64 (essential!)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Why so small?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Dense BFGS stores full p×p Hessian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1,361² ≈ 1.85M entries in memory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float64 required for QN stability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6217920" y="1371600"/>
            <a:ext cx="5486040" cy="47545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6"/>
          <p:cNvSpPr/>
          <p:nvPr/>
        </p:nvSpPr>
        <p:spPr>
          <a:xfrm>
            <a:off x="6492240" y="1554480"/>
            <a:ext cx="5028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200" spc="-1" strike="noStrike">
                <a:solidFill>
                  <a:srgbClr val="1b2a4a"/>
                </a:solidFill>
                <a:latin typeface="Calibri"/>
              </a:rPr>
              <a:t>Loss Function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77" name="Picture 7" descr="eq_loss_dark.png"/>
          <p:cNvPicPr/>
          <p:nvPr/>
        </p:nvPicPr>
        <p:blipFill>
          <a:blip r:embed="rId1"/>
          <a:stretch/>
        </p:blipFill>
        <p:spPr>
          <a:xfrm>
            <a:off x="6675120" y="2286000"/>
            <a:ext cx="4571640" cy="518040"/>
          </a:xfrm>
          <a:prstGeom prst="rect">
            <a:avLst/>
          </a:prstGeom>
          <a:ln w="0">
            <a:noFill/>
          </a:ln>
        </p:spPr>
      </p:pic>
      <p:sp>
        <p:nvSpPr>
          <p:cNvPr id="78" name="TextBox 8"/>
          <p:cNvSpPr/>
          <p:nvPr/>
        </p:nvSpPr>
        <p:spPr>
          <a:xfrm>
            <a:off x="6492240" y="3200400"/>
            <a:ext cx="5028840" cy="22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PDE residual: 10,000 collocation points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4th-order derivatives via auto-diff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IC loss: 1,000 initial-condition points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BC loss: 500 periodic-boundary points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1b2a4a"/>
                </a:solidFill>
                <a:latin typeface="Calibri"/>
              </a:rPr>
              <a:t>Loss weights: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λ_pde = 1.0   λ_ic = 5.0   λ_bc = 5.0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IC/BC emphasis prevents trivial solutions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40080" y="365760"/>
            <a:ext cx="108810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Two-Phase Training Pipeline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640080" y="105156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Rounded Rectangle 3"/>
          <p:cNvSpPr/>
          <p:nvPr/>
        </p:nvSpPr>
        <p:spPr>
          <a:xfrm>
            <a:off x="640080" y="1463040"/>
            <a:ext cx="4571640" cy="347436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4"/>
          <p:cNvSpPr/>
          <p:nvPr/>
        </p:nvSpPr>
        <p:spPr>
          <a:xfrm>
            <a:off x="914400" y="1645920"/>
            <a:ext cx="4114440" cy="27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200" spc="-1" strike="noStrike">
                <a:solidFill>
                  <a:srgbClr val="2596be"/>
                </a:solidFill>
                <a:latin typeface="Calibri"/>
              </a:rPr>
              <a:t>Phase 1: Adam Warmup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500–1000 epochs (optimal: 500)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Learning rate: 10⁻³ with exp decay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β₁ = 0.99,  β₂ = 0.999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Purpose: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Navigate rough loss landscape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Reach stable basin of attraction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Initialize Hessian approximation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5303520" y="2743200"/>
            <a:ext cx="1371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e8a838"/>
                </a:solidFill>
                <a:latin typeface="Calibri"/>
              </a:rPr>
              <a:t>→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6858000" y="1463040"/>
            <a:ext cx="4845960" cy="347436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7"/>
          <p:cNvSpPr/>
          <p:nvPr/>
        </p:nvSpPr>
        <p:spPr>
          <a:xfrm>
            <a:off x="7132320" y="1645920"/>
            <a:ext cx="4388760" cy="27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200" spc="-1" strike="noStrike">
                <a:solidFill>
                  <a:srgbClr val="27ae60"/>
                </a:solidFill>
                <a:latin typeface="Calibri"/>
              </a:rPr>
              <a:t>Phase 2: Quasi-Newton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50,000 BFGS iterations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Full Hessian approximation (p×p)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Collocation resampling every N_change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Key advantage: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Curvature information → faster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convergence in smooth regions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2 OOM lower loss than Adam alone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7" name="Rounded Rectangle 8"/>
          <p:cNvSpPr/>
          <p:nvPr/>
        </p:nvSpPr>
        <p:spPr>
          <a:xfrm>
            <a:off x="640080" y="530352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19050">
            <a:solidFill>
              <a:srgbClr val="e8a83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9"/>
          <p:cNvSpPr/>
          <p:nvPr/>
        </p:nvSpPr>
        <p:spPr>
          <a:xfrm>
            <a:off x="914400" y="5440680"/>
            <a:ext cx="105152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Total budget: ~51K iterations  •  Wall time: 6–11 hours per run  •  Without warmup → divergence (L² = 1.66)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Six Quasi-Newton Variants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From standard BFGS to self-scaled Broyden class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457200" y="137160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5"/>
          <p:cNvSpPr/>
          <p:nvPr/>
        </p:nvSpPr>
        <p:spPr>
          <a:xfrm>
            <a:off x="640080" y="150876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BFGS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Standard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Full Hessian approx, B₀ = I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Baseline quasi-Newton method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4297680" y="137160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TextBox 7"/>
          <p:cNvSpPr/>
          <p:nvPr/>
        </p:nvSpPr>
        <p:spPr>
          <a:xfrm>
            <a:off x="4480560" y="150876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L-BFGS-B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Limited Memory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Stores m=20 vector pairs instead of p×p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Reduces O(p²) → O(mp) storage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8138160" y="137160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9"/>
          <p:cNvSpPr/>
          <p:nvPr/>
        </p:nvSpPr>
        <p:spPr>
          <a:xfrm>
            <a:off x="8321040" y="150876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SSBFGS-OL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Oren–Luenberger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Self-scaled: τₖ = sₖᵀsₖ / yₖᵀsₖ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Can over-scale → worst results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9" name="Rounded Rectangle 10"/>
          <p:cNvSpPr/>
          <p:nvPr/>
        </p:nvSpPr>
        <p:spPr>
          <a:xfrm>
            <a:off x="457200" y="393192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11"/>
          <p:cNvSpPr/>
          <p:nvPr/>
        </p:nvSpPr>
        <p:spPr>
          <a:xfrm>
            <a:off x="640080" y="406908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SSBFGS-AB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Al-Baali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Conservative self-scaling variant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Lowest final loss, moderate L²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Rounded Rectangle 12"/>
          <p:cNvSpPr/>
          <p:nvPr/>
        </p:nvSpPr>
        <p:spPr>
          <a:xfrm>
            <a:off x="4297680" y="393192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TextBox 13"/>
          <p:cNvSpPr/>
          <p:nvPr/>
        </p:nvSpPr>
        <p:spPr>
          <a:xfrm>
            <a:off x="4480560" y="406908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SSBroyden1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Broyden Class 1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Convex combination of BFGS + DFP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with φₖ ∈ [0,1] + self-scaling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Rounded Rectangle 14"/>
          <p:cNvSpPr/>
          <p:nvPr/>
        </p:nvSpPr>
        <p:spPr>
          <a:xfrm>
            <a:off x="8138160" y="3931920"/>
            <a:ext cx="3565800" cy="2194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15"/>
          <p:cNvSpPr/>
          <p:nvPr/>
        </p:nvSpPr>
        <p:spPr>
          <a:xfrm>
            <a:off x="8321040" y="4069080"/>
            <a:ext cx="320004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SSBroyden2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300" spc="-1" strike="noStrike">
                <a:solidFill>
                  <a:srgbClr val="2596be"/>
                </a:solidFill>
                <a:latin typeface="Calibri"/>
              </a:rPr>
              <a:t>Broyden Class 2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BFGS-direction update + self-scaling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Best overall performance ★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5" name="TextBox 16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The Self-Scaling Mechanism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Automatic Hessian initialization at each iteration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40080" y="137160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Standard BFGS Update: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0" name="Picture 5" descr="eq_bfgs_dark.png"/>
          <p:cNvPicPr/>
          <p:nvPr/>
        </p:nvPicPr>
        <p:blipFill>
          <a:blip r:embed="rId1"/>
          <a:stretch/>
        </p:blipFill>
        <p:spPr>
          <a:xfrm>
            <a:off x="640080" y="1920240"/>
            <a:ext cx="5943240" cy="1200960"/>
          </a:xfrm>
          <a:prstGeom prst="rect">
            <a:avLst/>
          </a:prstGeom>
          <a:ln w="0">
            <a:noFill/>
          </a:ln>
        </p:spPr>
      </p:pic>
      <p:sp>
        <p:nvSpPr>
          <p:cNvPr id="111" name="TextBox 6"/>
          <p:cNvSpPr/>
          <p:nvPr/>
        </p:nvSpPr>
        <p:spPr>
          <a:xfrm>
            <a:off x="640080" y="320040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Self-Scaling (Oren–Luenberger):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2" name="Picture 7" descr="eq_self_scaling_dark.png"/>
          <p:cNvPicPr/>
          <p:nvPr/>
        </p:nvPicPr>
        <p:blipFill>
          <a:blip r:embed="rId2"/>
          <a:stretch/>
        </p:blipFill>
        <p:spPr>
          <a:xfrm>
            <a:off x="640080" y="3749040"/>
            <a:ext cx="6400440" cy="1215360"/>
          </a:xfrm>
          <a:prstGeom prst="rect">
            <a:avLst/>
          </a:prstGeom>
          <a:ln w="0">
            <a:noFill/>
          </a:ln>
        </p:spPr>
      </p:pic>
      <p:sp>
        <p:nvSpPr>
          <p:cNvPr id="113" name="Rounded Rectangle 8"/>
          <p:cNvSpPr/>
          <p:nvPr/>
        </p:nvSpPr>
        <p:spPr>
          <a:xfrm>
            <a:off x="7040880" y="1371600"/>
            <a:ext cx="4754520" cy="47545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9"/>
          <p:cNvSpPr/>
          <p:nvPr/>
        </p:nvSpPr>
        <p:spPr>
          <a:xfrm>
            <a:off x="7315200" y="1554480"/>
            <a:ext cx="4297320" cy="42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200" spc="-1" strike="noStrike">
                <a:solidFill>
                  <a:srgbClr val="2596be"/>
                </a:solidFill>
                <a:latin typeface="Calibri"/>
              </a:rPr>
              <a:t>Key Insight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Standard BFGS: B₀ = I always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Poor initial curvature estimate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Self-scaled: B₀ = τₖ · I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Automatic scale adaptation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τₖ matches local curvature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SSBroyden class extends this: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Broyden = convex combination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of BFGS and DFP updates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27ae60"/>
                </a:solidFill>
                <a:latin typeface="Calibri"/>
              </a:rPr>
              <a:t>SSBroyden2: BFGS direction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27ae60"/>
                </a:solidFill>
                <a:latin typeface="Calibri"/>
              </a:rPr>
              <a:t>+ automatic self-scaling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27ae60"/>
                </a:solidFill>
                <a:latin typeface="Calibri"/>
              </a:rPr>
              <a:t>= Best of both worlds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Additional Techniques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Power transforms, RAD sampling, spectral reference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9" name="Rounded Rectangle 4"/>
          <p:cNvSpPr/>
          <p:nvPr/>
        </p:nvSpPr>
        <p:spPr>
          <a:xfrm>
            <a:off x="457200" y="1371600"/>
            <a:ext cx="5303160" cy="2285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5"/>
          <p:cNvSpPr/>
          <p:nvPr/>
        </p:nvSpPr>
        <p:spPr>
          <a:xfrm>
            <a:off x="731520" y="1463040"/>
            <a:ext cx="484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Loss Power Transform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1" name="Picture 6" descr="eq_power_dark.png"/>
          <p:cNvPicPr/>
          <p:nvPr/>
        </p:nvPicPr>
        <p:blipFill>
          <a:blip r:embed="rId1"/>
          <a:stretch/>
        </p:blipFill>
        <p:spPr>
          <a:xfrm>
            <a:off x="1371600" y="2011680"/>
            <a:ext cx="3200040" cy="514440"/>
          </a:xfrm>
          <a:prstGeom prst="rect">
            <a:avLst/>
          </a:prstGeom>
          <a:ln w="0">
            <a:noFill/>
          </a:ln>
        </p:spPr>
      </p:pic>
      <p:sp>
        <p:nvSpPr>
          <p:cNvPr id="122" name="TextBox 7"/>
          <p:cNvSpPr/>
          <p:nvPr/>
        </p:nvSpPr>
        <p:spPr>
          <a:xfrm>
            <a:off x="731520" y="2743200"/>
            <a:ext cx="484596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Flattens high-loss regions, amplifies near minimum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p=4 achieves L² = 0.945 (2nd best on 128²)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3" name="Rounded Rectangle 8"/>
          <p:cNvSpPr/>
          <p:nvPr/>
        </p:nvSpPr>
        <p:spPr>
          <a:xfrm>
            <a:off x="6217920" y="1371600"/>
            <a:ext cx="5486040" cy="2285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9"/>
          <p:cNvSpPr/>
          <p:nvPr/>
        </p:nvSpPr>
        <p:spPr>
          <a:xfrm>
            <a:off x="6492240" y="1463040"/>
            <a:ext cx="5028840" cy="18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RAD Sampling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Residual-Adaptive Distribution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k₁ controls residual sensitivity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k₂ controls baseline probability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Best: k₁=1.0, k₂=0.5 (mean L² = 0.962)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c0392b"/>
                </a:solidFill>
                <a:latin typeface="Calibri"/>
              </a:rPr>
              <a:t>k₁ &gt; 1.0 → unstable (6× variance!)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5" name="Rounded Rectangle 10"/>
          <p:cNvSpPr/>
          <p:nvPr/>
        </p:nvSpPr>
        <p:spPr>
          <a:xfrm>
            <a:off x="457200" y="3931920"/>
            <a:ext cx="11246760" cy="2285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11"/>
          <p:cNvSpPr/>
          <p:nvPr/>
        </p:nvSpPr>
        <p:spPr>
          <a:xfrm>
            <a:off x="731520" y="4114800"/>
            <a:ext cx="10789560" cy="13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Reference Solution: ETDRK4 Spectral Solver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4th-order exponential time-differencing Runge-Kutta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128×128 and 64×64 Fourier spectral grids  •  Δt = 0.01  •  Exact for periodic domains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All L² errors computed against this high-fidelity reference at 21 time points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Experimental Design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43 configurations  •  8 ablation groups  •  80+ runs on Oscar HPC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1" name="Rounded Rectangle 4"/>
          <p:cNvSpPr/>
          <p:nvPr/>
        </p:nvSpPr>
        <p:spPr>
          <a:xfrm>
            <a:off x="45720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Oval 5"/>
          <p:cNvSpPr/>
          <p:nvPr/>
        </p:nvSpPr>
        <p:spPr>
          <a:xfrm>
            <a:off x="594360" y="160020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234440" y="1600200"/>
            <a:ext cx="17370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Optimizer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6 QN methods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333756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Oval 8"/>
          <p:cNvSpPr/>
          <p:nvPr/>
        </p:nvSpPr>
        <p:spPr>
          <a:xfrm>
            <a:off x="3474720" y="160020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4114800" y="1600200"/>
            <a:ext cx="17370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Warmup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0 / 500 / 1K / 5K epochs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7" name="Rounded Rectangle 10"/>
          <p:cNvSpPr/>
          <p:nvPr/>
        </p:nvSpPr>
        <p:spPr>
          <a:xfrm>
            <a:off x="621792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Oval 11"/>
          <p:cNvSpPr/>
          <p:nvPr/>
        </p:nvSpPr>
        <p:spPr>
          <a:xfrm>
            <a:off x="6355080" y="160020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6995160" y="1600200"/>
            <a:ext cx="17370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Architecture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4×20 / 8×20 / 5×30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Rounded Rectangle 13"/>
          <p:cNvSpPr/>
          <p:nvPr/>
        </p:nvSpPr>
        <p:spPr>
          <a:xfrm>
            <a:off x="9098280" y="146304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Oval 14"/>
          <p:cNvSpPr/>
          <p:nvPr/>
        </p:nvSpPr>
        <p:spPr>
          <a:xfrm>
            <a:off x="9235440" y="160020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9875520" y="1600200"/>
            <a:ext cx="17370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Adam-only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51K epochs, 3 LRs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Rounded Rectangle 16"/>
          <p:cNvSpPr/>
          <p:nvPr/>
        </p:nvSpPr>
        <p:spPr>
          <a:xfrm>
            <a:off x="457200" y="384048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Oval 17"/>
          <p:cNvSpPr/>
          <p:nvPr/>
        </p:nvSpPr>
        <p:spPr>
          <a:xfrm>
            <a:off x="594360" y="397764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1234440" y="3977640"/>
            <a:ext cx="17370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RAdam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RAdam warmup variant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6" name="Rounded Rectangle 19"/>
          <p:cNvSpPr/>
          <p:nvPr/>
        </p:nvSpPr>
        <p:spPr>
          <a:xfrm>
            <a:off x="3337560" y="384048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e8a83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Oval 20"/>
          <p:cNvSpPr/>
          <p:nvPr/>
        </p:nvSpPr>
        <p:spPr>
          <a:xfrm>
            <a:off x="3474720" y="397764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F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4114800" y="3977640"/>
            <a:ext cx="17370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Resampling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N_change ∈ {200, 500, 1K}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Rounded Rectangle 22"/>
          <p:cNvSpPr/>
          <p:nvPr/>
        </p:nvSpPr>
        <p:spPr>
          <a:xfrm>
            <a:off x="6217920" y="384048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Oval 23"/>
          <p:cNvSpPr/>
          <p:nvPr/>
        </p:nvSpPr>
        <p:spPr>
          <a:xfrm>
            <a:off x="6355080" y="397764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6995160" y="3977640"/>
            <a:ext cx="17370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Loss Transform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Power p ∈ {1, 2, 4}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Rounded Rectangle 25"/>
          <p:cNvSpPr/>
          <p:nvPr/>
        </p:nvSpPr>
        <p:spPr>
          <a:xfrm>
            <a:off x="9098280" y="384048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Oval 26"/>
          <p:cNvSpPr/>
          <p:nvPr/>
        </p:nvSpPr>
        <p:spPr>
          <a:xfrm>
            <a:off x="9235440" y="3977640"/>
            <a:ext cx="502560" cy="50256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9875520" y="3977640"/>
            <a:ext cx="17370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RAD Params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k₁, k₂ ∈ {0.5, 1.0, 2.0}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TextBox 28"/>
          <p:cNvSpPr/>
          <p:nvPr/>
        </p:nvSpPr>
        <p:spPr>
          <a:xfrm>
            <a:off x="457200" y="6035040"/>
            <a:ext cx="1124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Each configuration run with 3 random seeds  •  6–11 hours wall time per run  •  Evaluation: relative L² error against spectral reference at 21 time points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6" name="TextBox 29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Results: Core Optimizer Comparison (Group A)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1K Adam warmup + 50K BFGS, identical settings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60" name="Picture 4" descr="optimizer_variant_comparison.png"/>
          <p:cNvPicPr/>
          <p:nvPr/>
        </p:nvPicPr>
        <p:blipFill>
          <a:blip r:embed="rId1"/>
          <a:stretch/>
        </p:blipFill>
        <p:spPr>
          <a:xfrm>
            <a:off x="274320" y="1371600"/>
            <a:ext cx="7314840" cy="3047760"/>
          </a:xfrm>
          <a:prstGeom prst="rect">
            <a:avLst/>
          </a:prstGeom>
          <a:ln w="0">
            <a:noFill/>
          </a:ln>
        </p:spPr>
      </p:pic>
      <p:sp>
        <p:nvSpPr>
          <p:cNvPr id="161" name="Rounded Rectangle 5"/>
          <p:cNvSpPr/>
          <p:nvPr/>
        </p:nvSpPr>
        <p:spPr>
          <a:xfrm>
            <a:off x="7772400" y="1371600"/>
            <a:ext cx="4114440" cy="47545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6"/>
          <p:cNvSpPr/>
          <p:nvPr/>
        </p:nvSpPr>
        <p:spPr>
          <a:xfrm>
            <a:off x="8046720" y="1554480"/>
            <a:ext cx="3657240" cy="40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000" spc="-1" strike="noStrike">
                <a:solidFill>
                  <a:srgbClr val="2596be"/>
                </a:solidFill>
                <a:latin typeface="Calibri"/>
              </a:rPr>
              <a:t>Key Findings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BFGS: L² = 0.975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L-BFGS-B: L² = 1.062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6666"/>
                </a:solidFill>
                <a:latin typeface="Calibri"/>
              </a:rPr>
              <a:t>SSBFGS-OL: L² = 1.349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6666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6666"/>
                </a:solidFill>
                <a:latin typeface="Calibri"/>
              </a:rPr>
              <a:t>(over-scaling → worst)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SSBFGS-AB: L² = 1.071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(lowest loss, moderate L²)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With optimized resampling: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SSBroyden2: L² = 0.854 ★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Loss ≠ Error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SSBFGS-AB: lowest loss</a:t>
            </a:r>
            <a:endParaRPr b="0" lang="en-US" sz="15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but only mediocre L² error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Results: Warmup Duration (Group B)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How many Adam epochs before switching to BFGS?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67" name="Picture 4" descr="warmup_sweep.png"/>
          <p:cNvPicPr/>
          <p:nvPr/>
        </p:nvPicPr>
        <p:blipFill>
          <a:blip r:embed="rId1"/>
          <a:stretch/>
        </p:blipFill>
        <p:spPr>
          <a:xfrm>
            <a:off x="274320" y="1371600"/>
            <a:ext cx="5943240" cy="2431080"/>
          </a:xfrm>
          <a:prstGeom prst="rect">
            <a:avLst/>
          </a:prstGeom>
          <a:ln w="0">
            <a:noFill/>
          </a:ln>
        </p:spPr>
      </p:pic>
      <p:sp>
        <p:nvSpPr>
          <p:cNvPr id="168" name="Rounded Rectangle 5"/>
          <p:cNvSpPr/>
          <p:nvPr/>
        </p:nvSpPr>
        <p:spPr>
          <a:xfrm>
            <a:off x="6583680" y="1371600"/>
            <a:ext cx="5303160" cy="484596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TextBox 6"/>
          <p:cNvSpPr/>
          <p:nvPr/>
        </p:nvSpPr>
        <p:spPr>
          <a:xfrm>
            <a:off x="6858000" y="1554480"/>
            <a:ext cx="4845960" cy="41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000" spc="-1" strike="noStrike">
                <a:solidFill>
                  <a:srgbClr val="2596be"/>
                </a:solidFill>
                <a:latin typeface="Calibri"/>
              </a:rPr>
              <a:t>U-Shaped Relationship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ff6666"/>
                </a:solidFill>
                <a:latin typeface="Calibri"/>
              </a:rPr>
              <a:t>0 epochs → L² = 1.659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BFGS diverges from random init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500 epochs → L² = 0.949  ★ OPTIMAL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1000 epochs → L² = 1.078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(canonical, slightly overshoots)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e8a838"/>
                </a:solidFill>
                <a:latin typeface="Calibri"/>
              </a:rPr>
              <a:t>5000 epochs → L² = 1.194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Wastes budget on inefficient Adam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Takeaway: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Short warmup is essential but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too much is counterproductive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Results: Resampling Frequency (Group F)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The single most impactful hyperparameter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74" name="Picture 4" descr="batch_size_sweep.png"/>
          <p:cNvPicPr/>
          <p:nvPr/>
        </p:nvPicPr>
        <p:blipFill>
          <a:blip r:embed="rId1"/>
          <a:stretch/>
        </p:blipFill>
        <p:spPr>
          <a:xfrm>
            <a:off x="274320" y="1371600"/>
            <a:ext cx="5943240" cy="4457520"/>
          </a:xfrm>
          <a:prstGeom prst="rect">
            <a:avLst/>
          </a:prstGeom>
          <a:ln w="0">
            <a:noFill/>
          </a:ln>
        </p:spPr>
      </p:pic>
      <p:sp>
        <p:nvSpPr>
          <p:cNvPr id="175" name="Rounded Rectangle 5"/>
          <p:cNvSpPr/>
          <p:nvPr/>
        </p:nvSpPr>
        <p:spPr>
          <a:xfrm>
            <a:off x="6583680" y="1371600"/>
            <a:ext cx="5303160" cy="484596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6"/>
          <p:cNvSpPr/>
          <p:nvPr/>
        </p:nvSpPr>
        <p:spPr>
          <a:xfrm>
            <a:off x="6858000" y="1554480"/>
            <a:ext cx="4845960" cy="40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400" spc="-1" strike="noStrike">
                <a:solidFill>
                  <a:srgbClr val="27ae60"/>
                </a:solidFill>
                <a:latin typeface="Calibri"/>
              </a:rPr>
              <a:t>21% Improvement!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N_change = 200 → L² = 0.854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7ae60"/>
                </a:solidFill>
                <a:latin typeface="Calibri"/>
              </a:rPr>
              <a:t>  ★ </a:t>
            </a:r>
            <a:r>
              <a:rPr b="0" lang="en-US" sz="1600" spc="-1" strike="noStrike">
                <a:solidFill>
                  <a:srgbClr val="27ae60"/>
                </a:solidFill>
                <a:latin typeface="Calibri"/>
              </a:rPr>
              <a:t>Best result in entire study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N_change = 500 → L² = 1.078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(canonical setting)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6666"/>
                </a:solidFill>
                <a:latin typeface="Calibri"/>
              </a:rPr>
              <a:t>N_change = 1000 → L² = 1.178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700" spc="-1" strike="noStrike">
                <a:solidFill>
                  <a:srgbClr val="e8a838"/>
                </a:solidFill>
                <a:latin typeface="Calibri"/>
              </a:rPr>
              <a:t>Why it matters: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QN optimizer overfits to fixed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collocation points very quickly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Frequent resampling forces global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accuracy, not just local fitting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Results: Loss Transforms &amp; RAD Sensitivity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Groups G and H ablations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81" name="Picture 4" descr="power_transform.png"/>
          <p:cNvPicPr/>
          <p:nvPr/>
        </p:nvPicPr>
        <p:blipFill>
          <a:blip r:embed="rId1"/>
          <a:stretch/>
        </p:blipFill>
        <p:spPr>
          <a:xfrm>
            <a:off x="274320" y="1371600"/>
            <a:ext cx="5486040" cy="411444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5" descr="hessian_scaling.png"/>
          <p:cNvPicPr/>
          <p:nvPr/>
        </p:nvPicPr>
        <p:blipFill>
          <a:blip r:embed="rId2"/>
          <a:stretch/>
        </p:blipFill>
        <p:spPr>
          <a:xfrm>
            <a:off x="6217920" y="1371600"/>
            <a:ext cx="5486040" cy="2742840"/>
          </a:xfrm>
          <a:prstGeom prst="rect">
            <a:avLst/>
          </a:prstGeom>
          <a:ln w="0">
            <a:noFill/>
          </a:ln>
        </p:spPr>
      </p:pic>
      <p:sp>
        <p:nvSpPr>
          <p:cNvPr id="183" name="TextBox 6"/>
          <p:cNvSpPr/>
          <p:nvPr/>
        </p:nvSpPr>
        <p:spPr>
          <a:xfrm>
            <a:off x="457200" y="4754880"/>
            <a:ext cx="1124676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Power transform p=4:  L² = 0.945 — flattens loss landscape for smoother QN convergence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RAD k₂=0.5:  mean L² = 0.962 ± 0.224 — focuses collocation points on high-residual regions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c0392b"/>
                </a:solidFill>
                <a:latin typeface="Calibri"/>
              </a:rPr>
              <a:t>RAD k₁=2.0:  mean L² = 2.13 ± 1.26 — too aggressive → 6× variance, catastrophic in some seeds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Results: Adam-Only Baseline (Group D)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Can first-order optimization alone solve CH?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88" name="Picture 4" descr="adam_lr_sweep.png"/>
          <p:cNvPicPr/>
          <p:nvPr/>
        </p:nvPicPr>
        <p:blipFill>
          <a:blip r:embed="rId1"/>
          <a:stretch/>
        </p:blipFill>
        <p:spPr>
          <a:xfrm>
            <a:off x="457200" y="1371600"/>
            <a:ext cx="6400440" cy="4800240"/>
          </a:xfrm>
          <a:prstGeom prst="rect">
            <a:avLst/>
          </a:prstGeom>
          <a:ln w="0">
            <a:noFill/>
          </a:ln>
        </p:spPr>
      </p:pic>
      <p:sp>
        <p:nvSpPr>
          <p:cNvPr id="189" name="Rounded Rectangle 5"/>
          <p:cNvSpPr/>
          <p:nvPr/>
        </p:nvSpPr>
        <p:spPr>
          <a:xfrm>
            <a:off x="7315200" y="137160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6"/>
          <p:cNvSpPr/>
          <p:nvPr/>
        </p:nvSpPr>
        <p:spPr>
          <a:xfrm>
            <a:off x="7589520" y="1554480"/>
            <a:ext cx="3931560" cy="41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2800" spc="-1" strike="noStrike">
                <a:solidFill>
                  <a:srgbClr val="ff6666"/>
                </a:solidFill>
                <a:latin typeface="Calibri"/>
              </a:rPr>
              <a:t>Answer: No.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51K Adam epochs: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L² = 1.000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Final loss = 0.027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Best hybrid (SSBroyden2):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L² = 0.854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Final loss = 3.3×10⁻⁴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e8a838"/>
                </a:solidFill>
                <a:latin typeface="Calibri"/>
              </a:rPr>
              <a:t>2 orders of magnitude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1800" spc="-1" strike="noStrike">
                <a:solidFill>
                  <a:srgbClr val="e8a838"/>
                </a:solidFill>
                <a:latin typeface="Calibri"/>
              </a:rPr>
              <a:t>lower loss with QN methods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Adam hits a "flat plateau"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typical of stiff PDE landscapes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457200" y="137160"/>
            <a:ext cx="8229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Best Result: SSBroyden2 on 64×64 Domain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8686800" y="137160"/>
            <a:ext cx="3200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27ae60"/>
                </a:solidFill>
                <a:latin typeface="Calibri"/>
              </a:rPr>
              <a:t>L² = 0.258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94" name="Picture 3" descr="comparison_snapshots.png"/>
          <p:cNvPicPr/>
          <p:nvPr/>
        </p:nvPicPr>
        <p:blipFill>
          <a:blip r:embed="rId1"/>
          <a:stretch/>
        </p:blipFill>
        <p:spPr>
          <a:xfrm>
            <a:off x="182880" y="822960"/>
            <a:ext cx="11795400" cy="6281640"/>
          </a:xfrm>
          <a:prstGeom prst="rect">
            <a:avLst/>
          </a:prstGeom>
          <a:ln w="0">
            <a:noFill/>
          </a:ln>
        </p:spPr>
      </p:pic>
      <p:sp>
        <p:nvSpPr>
          <p:cNvPr id="195" name="TextBox 4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457200" y="137160"/>
            <a:ext cx="8229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Second Best: SSBroyden1 on 64×64 Domain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8686800" y="137160"/>
            <a:ext cx="3200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2596be"/>
                </a:solidFill>
                <a:latin typeface="Calibri"/>
              </a:rPr>
              <a:t>L² = 0.323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98" name="Picture 3" descr="comparison_snapshots.png"/>
          <p:cNvPicPr/>
          <p:nvPr/>
        </p:nvPicPr>
        <p:blipFill>
          <a:blip r:embed="rId1"/>
          <a:stretch/>
        </p:blipFill>
        <p:spPr>
          <a:xfrm>
            <a:off x="182880" y="822960"/>
            <a:ext cx="11795400" cy="6281640"/>
          </a:xfrm>
          <a:prstGeom prst="rect">
            <a:avLst/>
          </a:prstGeom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Analysis: Performance Overview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Normalized heatmap across all experiments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03" name="Picture 4" descr="summary_heatmap.png"/>
          <p:cNvPicPr/>
          <p:nvPr/>
        </p:nvPicPr>
        <p:blipFill>
          <a:blip r:embed="rId1"/>
          <a:stretch/>
        </p:blipFill>
        <p:spPr>
          <a:xfrm>
            <a:off x="274320" y="1371600"/>
            <a:ext cx="3911400" cy="5028840"/>
          </a:xfrm>
          <a:prstGeom prst="rect">
            <a:avLst/>
          </a:prstGeom>
          <a:ln w="0">
            <a:noFill/>
          </a:ln>
        </p:spPr>
      </p:pic>
      <p:sp>
        <p:nvSpPr>
          <p:cNvPr id="204" name="TextBox 5"/>
          <p:cNvSpPr/>
          <p:nvPr/>
        </p:nvSpPr>
        <p:spPr>
          <a:xfrm>
            <a:off x="6858000" y="1371600"/>
            <a:ext cx="5028840" cy="43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Reading the Heatmap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Green = better performance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Red = worse performance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Metrics: L² error, final loss,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training time, mass drift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Top performers: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bfgs_batch_200 (L² = 0.854)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power_4 (L² = 0.945)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warmup_500 (L² = 0.949)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c0392b"/>
                </a:solidFill>
                <a:latin typeface="Calibri"/>
              </a:rPr>
              <a:t>Worst: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warmup_0 (L² = 1.659)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adam_lr_low (L² = 1.680)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Analysis: Accuracy vs. Computational Cost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Pareto front of L² error vs. training time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09" name="Picture 4" descr="pareto_loss_time.png"/>
          <p:cNvPicPr/>
          <p:nvPr/>
        </p:nvPicPr>
        <p:blipFill>
          <a:blip r:embed="rId1"/>
          <a:stretch/>
        </p:blipFill>
        <p:spPr>
          <a:xfrm>
            <a:off x="914400" y="1371600"/>
            <a:ext cx="7314840" cy="5486040"/>
          </a:xfrm>
          <a:prstGeom prst="rect">
            <a:avLst/>
          </a:prstGeom>
          <a:ln w="0">
            <a:noFill/>
          </a:ln>
        </p:spPr>
      </p:pic>
      <p:sp>
        <p:nvSpPr>
          <p:cNvPr id="210" name="Rounded Rectangle 5"/>
          <p:cNvSpPr/>
          <p:nvPr/>
        </p:nvSpPr>
        <p:spPr>
          <a:xfrm>
            <a:off x="8686800" y="1371600"/>
            <a:ext cx="3200040" cy="411444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6"/>
          <p:cNvSpPr/>
          <p:nvPr/>
        </p:nvSpPr>
        <p:spPr>
          <a:xfrm>
            <a:off x="8961120" y="1554480"/>
            <a:ext cx="2742840" cy="28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1" lang="en-US" sz="2000" spc="-1" strike="noStrike">
                <a:solidFill>
                  <a:srgbClr val="2596be"/>
                </a:solidFill>
                <a:latin typeface="Calibri"/>
              </a:rPr>
              <a:t>Trade-offs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Adam: fast but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inaccurate (L²=1.0)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QN methods: more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compute, much better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accuracy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SSBroyden2 dominates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the Pareto front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640080" y="365760"/>
            <a:ext cx="108810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Failure Mode Analysis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214" name="Rectangle 2"/>
          <p:cNvSpPr/>
          <p:nvPr/>
        </p:nvSpPr>
        <p:spPr>
          <a:xfrm>
            <a:off x="640080" y="105156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Rounded Rectangle 3"/>
          <p:cNvSpPr/>
          <p:nvPr/>
        </p:nvSpPr>
        <p:spPr>
          <a:xfrm>
            <a:off x="457200" y="1463040"/>
            <a:ext cx="3565800" cy="45716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4"/>
          <p:cNvSpPr/>
          <p:nvPr/>
        </p:nvSpPr>
        <p:spPr>
          <a:xfrm>
            <a:off x="640080" y="1645920"/>
            <a:ext cx="3200040" cy="20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c0392b"/>
                </a:solidFill>
                <a:latin typeface="Calibri"/>
              </a:rPr>
              <a:t>Failure Mode 1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Insufficient Warmup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warmup_0: L² = 1.659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BFGS diverges from random init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Loss never stabilizes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Fix: ≥ 500 Adam epochs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7" name="Rounded Rectangle 5"/>
          <p:cNvSpPr/>
          <p:nvPr/>
        </p:nvSpPr>
        <p:spPr>
          <a:xfrm>
            <a:off x="4297680" y="1463040"/>
            <a:ext cx="3565800" cy="45716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e8a83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6"/>
          <p:cNvSpPr/>
          <p:nvPr/>
        </p:nvSpPr>
        <p:spPr>
          <a:xfrm>
            <a:off x="4480560" y="1645920"/>
            <a:ext cx="3200040" cy="20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e8a838"/>
                </a:solidFill>
                <a:latin typeface="Calibri"/>
              </a:rPr>
              <a:t>Failure Mode 2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Aggressive RAD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H2 (k₁=2.0): L² = 2.13 ± 1.26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6× typical variance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Seed 2 diverges: L² = 3.92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Fix: Keep k₁ ≤ 1.0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9" name="Rounded Rectangle 7"/>
          <p:cNvSpPr/>
          <p:nvPr/>
        </p:nvSpPr>
        <p:spPr>
          <a:xfrm>
            <a:off x="8138160" y="1463040"/>
            <a:ext cx="3565800" cy="45716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2596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8"/>
          <p:cNvSpPr/>
          <p:nvPr/>
        </p:nvSpPr>
        <p:spPr>
          <a:xfrm>
            <a:off x="8321040" y="1645920"/>
            <a:ext cx="3200040" cy="20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2596be"/>
                </a:solidFill>
                <a:latin typeface="Calibri"/>
              </a:rPr>
              <a:t>Failure Mode 3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Infrequent Resampling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N_change ≥ 1000: overfitting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Loss → 10⁹ in some seeds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Hessian corrupted on resample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Fix: N_change ≤ 500 (200 best)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Insight: Low Loss ≠ Low Error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640080" y="64008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596be"/>
                </a:solidFill>
                <a:latin typeface="Calibri"/>
              </a:rPr>
              <a:t>The collocation overfitting problem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25" name="Picture 4" descr="final_loss_bar.png"/>
          <p:cNvPicPr/>
          <p:nvPr/>
        </p:nvPicPr>
        <p:blipFill>
          <a:blip r:embed="rId1"/>
          <a:stretch/>
        </p:blipFill>
        <p:spPr>
          <a:xfrm>
            <a:off x="274320" y="1371600"/>
            <a:ext cx="6857640" cy="4114440"/>
          </a:xfrm>
          <a:prstGeom prst="rect">
            <a:avLst/>
          </a:prstGeom>
          <a:ln w="0">
            <a:noFill/>
          </a:ln>
        </p:spPr>
      </p:pic>
      <p:sp>
        <p:nvSpPr>
          <p:cNvPr id="226" name="Rounded Rectangle 5"/>
          <p:cNvSpPr/>
          <p:nvPr/>
        </p:nvSpPr>
        <p:spPr>
          <a:xfrm>
            <a:off x="7498080" y="137160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6"/>
          <p:cNvSpPr/>
          <p:nvPr/>
        </p:nvSpPr>
        <p:spPr>
          <a:xfrm>
            <a:off x="7772400" y="1554480"/>
            <a:ext cx="3931560" cy="44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200" spc="-1" strike="noStrike">
                <a:solidFill>
                  <a:srgbClr val="e8a838"/>
                </a:solidFill>
                <a:latin typeface="Calibri"/>
              </a:rPr>
              <a:t>The Disconnect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SSBFGS-AB: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27ae60"/>
                </a:solidFill>
                <a:latin typeface="Calibri"/>
              </a:rPr>
              <a:t>Lowest loss: 3.4×10⁻⁴</a:t>
            </a:r>
            <a:endParaRPr b="0" lang="en-US" sz="17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6666"/>
                </a:solidFill>
                <a:latin typeface="Calibri"/>
              </a:rPr>
              <a:t>  </a:t>
            </a:r>
            <a:r>
              <a:rPr b="0" lang="en-US" sz="1700" spc="-1" strike="noStrike">
                <a:solidFill>
                  <a:srgbClr val="ff6666"/>
                </a:solidFill>
                <a:latin typeface="Calibri"/>
              </a:rPr>
              <a:t>But L² = 1.071 (mediocre!)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800" spc="-1" strike="noStrike">
                <a:solidFill>
                  <a:srgbClr val="2596be"/>
                </a:solidFill>
                <a:latin typeface="Calibri"/>
              </a:rPr>
              <a:t>Why?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Loss: evaluated at N_int points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L² error: global accuracy 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full reference grid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Optimizer memorizes collocation</a:t>
            </a:r>
            <a:endParaRPr b="0" lang="en-US" sz="1600" spc="-1" strike="noStrike">
              <a:latin typeface="Arial"/>
            </a:endParaRPr>
          </a:p>
          <a:p>
            <a:pPr marL="457200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points instead of learning physics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→ </a:t>
            </a: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Frequent resampling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   </a:t>
            </a:r>
            <a:r>
              <a:rPr b="1" lang="en-US" sz="1800" spc="-1" strike="noStrike">
                <a:solidFill>
                  <a:srgbClr val="27ae60"/>
                </a:solidFill>
                <a:latin typeface="Calibri"/>
              </a:rPr>
              <a:t>is the solution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2"/>
          <p:cNvSpPr/>
          <p:nvPr/>
        </p:nvSpPr>
        <p:spPr>
          <a:xfrm>
            <a:off x="640080" y="137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Diagnostics: Mass Conservation &amp; Loss Curves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31" name="Picture 3" descr="mass_drift_bar.png"/>
          <p:cNvPicPr/>
          <p:nvPr/>
        </p:nvPicPr>
        <p:blipFill>
          <a:blip r:embed="rId1"/>
          <a:stretch/>
        </p:blipFill>
        <p:spPr>
          <a:xfrm>
            <a:off x="274320" y="1371600"/>
            <a:ext cx="5760360" cy="3456000"/>
          </a:xfrm>
          <a:prstGeom prst="rect">
            <a:avLst/>
          </a:prstGeom>
          <a:ln w="0">
            <a:noFill/>
          </a:ln>
        </p:spPr>
      </p:pic>
      <p:pic>
        <p:nvPicPr>
          <p:cNvPr id="232" name="Picture 4" descr="loss_curves_variants.png"/>
          <p:cNvPicPr/>
          <p:nvPr/>
        </p:nvPicPr>
        <p:blipFill>
          <a:blip r:embed="rId2"/>
          <a:stretch/>
        </p:blipFill>
        <p:spPr>
          <a:xfrm>
            <a:off x="6217920" y="1371600"/>
            <a:ext cx="5668920" cy="2834280"/>
          </a:xfrm>
          <a:prstGeom prst="rect">
            <a:avLst/>
          </a:prstGeom>
          <a:ln w="0">
            <a:noFill/>
          </a:ln>
        </p:spPr>
      </p:pic>
      <p:sp>
        <p:nvSpPr>
          <p:cNvPr id="233" name="TextBox 5"/>
          <p:cNvSpPr/>
          <p:nvPr/>
        </p:nvSpPr>
        <p:spPr>
          <a:xfrm>
            <a:off x="457200" y="5303520"/>
            <a:ext cx="112467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Mass conservation drift &lt; 0.002 for successful runs — a useful "canary" for training health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c0392b"/>
                </a:solidFill>
                <a:latin typeface="Calibri"/>
              </a:rPr>
              <a:t>Large drift (&gt; 0.1) exclusively correlates with BFGS divergence (e.g., H2 seed_2: Δm = 0.19, L² = 3.92)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640080" y="640080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640080" y="274320"/>
            <a:ext cx="1088100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Key Takeaways &amp; Recommended Configuration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36" name="Rectangle 2"/>
          <p:cNvSpPr/>
          <p:nvPr/>
        </p:nvSpPr>
        <p:spPr>
          <a:xfrm>
            <a:off x="640080" y="91440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3"/>
          <p:cNvSpPr/>
          <p:nvPr/>
        </p:nvSpPr>
        <p:spPr>
          <a:xfrm>
            <a:off x="457200" y="1188720"/>
            <a:ext cx="6400440" cy="37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1.  Self-scaled QN &gt; standard optimizers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SSBroyden2 achieves L² = 0.854 (vs Adam 1.000)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2.  Adam warmup is essential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500 epochs optimal; 0 → divergence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3.  Frequent resampling prevents overfitting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N_change=200 → 21% improvement (best single change)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4.  Power transforms help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p=4 → L² = 0.945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5.  RAD k₂=0.5 improves sampling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But k₁&gt;1.0 is dangerous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6.  float64 is non-negotiable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Hessian corrupts rapidly in float32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600" spc="-1" strike="noStrike">
                <a:solidFill>
                  <a:srgbClr val="e8a838"/>
                </a:solidFill>
                <a:latin typeface="Calibri"/>
              </a:rPr>
              <a:t>7.  Low loss ≠ low error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     </a:t>
            </a:r>
            <a:r>
              <a:rPr b="0" lang="en-US" sz="1300" spc="-1" strike="noStrike">
                <a:solidFill>
                  <a:srgbClr val="bbccdd"/>
                </a:solidFill>
                <a:latin typeface="Calibri"/>
              </a:rPr>
              <a:t>Global accuracy requires point diversity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8" name="Rounded Rectangle 4"/>
          <p:cNvSpPr/>
          <p:nvPr/>
        </p:nvSpPr>
        <p:spPr>
          <a:xfrm>
            <a:off x="7132320" y="1188720"/>
            <a:ext cx="4754520" cy="5028840"/>
          </a:xfrm>
          <a:prstGeom prst="roundRect">
            <a:avLst>
              <a:gd name="adj" fmla="val 16667"/>
            </a:avLst>
          </a:prstGeom>
          <a:solidFill>
            <a:srgbClr val="15203a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5"/>
          <p:cNvSpPr/>
          <p:nvPr/>
        </p:nvSpPr>
        <p:spPr>
          <a:xfrm>
            <a:off x="7406640" y="1371600"/>
            <a:ext cx="4297320" cy="52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1199"/>
              </a:spcAft>
              <a:buNone/>
            </a:pPr>
            <a:r>
              <a:rPr b="1" lang="en-US" sz="2000" spc="-1" strike="noStrike">
                <a:solidFill>
                  <a:srgbClr val="27ae60"/>
                </a:solidFill>
                <a:latin typeface="Calibri"/>
              </a:rPr>
              <a:t>Recommended Config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Optimizer: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SSBroyden2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Adam warmup: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500 epochs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BFGS iters: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50,000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N_change: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200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Power: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p = 4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RAD k₁: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1.0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RAD k₂: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0.5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Network: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4×20, tanh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Precision: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float64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596be"/>
                </a:solidFill>
                <a:latin typeface="Calibri"/>
              </a:rPr>
              <a:t>Loss weights: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PDE:1, IC:5, BC:5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0" name="TextBox 6"/>
          <p:cNvSpPr/>
          <p:nvPr/>
        </p:nvSpPr>
        <p:spPr>
          <a:xfrm>
            <a:off x="-2743200" y="6387480"/>
            <a:ext cx="10058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99999"/>
                </a:solidFill>
                <a:latin typeface="Calibri"/>
              </a:rPr>
              <a:t>Macias &amp; Wong  •  Optimizing the Optimizer  •  Brown University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40080" y="1371600"/>
            <a:ext cx="1088100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640080" y="2560320"/>
            <a:ext cx="10881000" cy="37800"/>
          </a:xfrm>
          <a:prstGeom prst="rect">
            <a:avLst/>
          </a:prstGeom>
          <a:solidFill>
            <a:srgbClr val="2596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TextBox 3"/>
          <p:cNvSpPr/>
          <p:nvPr/>
        </p:nvSpPr>
        <p:spPr>
          <a:xfrm>
            <a:off x="640080" y="2926080"/>
            <a:ext cx="10881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Eugenio D. Macias  &amp;  Don Wong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640080" y="3566160"/>
            <a:ext cx="1088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596be"/>
                </a:solidFill>
                <a:latin typeface="Calibri"/>
              </a:rPr>
              <a:t>Brown University  •  Division of Applied Mathematics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640080" y="4572000"/>
            <a:ext cx="108810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99aabb"/>
                </a:solidFill>
                <a:latin typeface="Calibri"/>
              </a:rPr>
              <a:t>Acknowledgments:</a:t>
            </a:r>
            <a:br>
              <a:rPr sz="1400"/>
            </a:br>
            <a:r>
              <a:rPr b="0" lang="en-US" sz="1400" spc="-1" strike="noStrike">
                <a:solidFill>
                  <a:srgbClr val="99aabb"/>
                </a:solidFill>
                <a:latin typeface="Calibri"/>
              </a:rPr>
              <a:t>Oscar HPC Cluster at Brown University</a:t>
            </a:r>
            <a:br>
              <a:rPr sz="1400"/>
            </a:br>
            <a:r>
              <a:rPr b="0" lang="en-US" sz="1400" spc="-1" strike="noStrike">
                <a:solidFill>
                  <a:srgbClr val="99aabb"/>
                </a:solidFill>
                <a:latin typeface="Calibri"/>
              </a:rPr>
              <a:t>Based on Kiyani et al. (2025), Computer Methods in Applied Mechanics and Engineering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640080" y="5760720"/>
            <a:ext cx="10881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e8a838"/>
                </a:solidFill>
                <a:latin typeface="Calibri"/>
              </a:rPr>
              <a:t>Questions?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</TotalTime>
  <Application>PPTXPresentationEditor/1.2.0.0$MacOSX_AARCH64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2026-04-11T17:36:45Z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